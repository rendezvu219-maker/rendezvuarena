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e12ce16e1140c7" /><Relationship Type="http://schemas.openxmlformats.org/officeDocument/2006/relationships/extended-properties" Target="/docProps/app.xml" Id="R672f39bc738e4549" /><Relationship Type="http://schemas.openxmlformats.org/officeDocument/2006/relationships/officeDocument" Target="/ppt/presentation.xml" Id="R830641c02c5446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e2406ac1fb485e"/>
  </p:sldMasterIdLst>
  <p:notesMasterIdLst>
    <p:notesMasterId xmlns:r="http://schemas.openxmlformats.org/officeDocument/2006/relationships" r:id="R3932787e260d4424"/>
  </p:notesMasterIdLst>
  <p:sldIdLst>
    <p:sldId xmlns:r="http://schemas.openxmlformats.org/officeDocument/2006/relationships" id="256" r:id="Radc58e414b58439f"/>
    <p:sldId xmlns:r="http://schemas.openxmlformats.org/officeDocument/2006/relationships" id="257" r:id="Rbd88c7761ede4a07"/>
    <p:sldId xmlns:r="http://schemas.openxmlformats.org/officeDocument/2006/relationships" id="258" r:id="Ra4299a3479fc4af3"/>
    <p:sldId xmlns:r="http://schemas.openxmlformats.org/officeDocument/2006/relationships" id="259" r:id="R150f0f2ffed04539"/>
    <p:sldId xmlns:r="http://schemas.openxmlformats.org/officeDocument/2006/relationships" id="260" r:id="R1f7f0d6eea7f409d"/>
    <p:sldId xmlns:r="http://schemas.openxmlformats.org/officeDocument/2006/relationships" id="261" r:id="R414645dba87b497f"/>
    <p:sldId xmlns:r="http://schemas.openxmlformats.org/officeDocument/2006/relationships" id="262" r:id="R2343b43159b2408a"/>
    <p:sldId xmlns:r="http://schemas.openxmlformats.org/officeDocument/2006/relationships" id="263" r:id="R3463e74d4b8848e1"/>
    <p:sldId xmlns:r="http://schemas.openxmlformats.org/officeDocument/2006/relationships" id="264" r:id="R569ea5f848b24c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b53c068cd74e5b" /><Relationship Type="http://schemas.openxmlformats.org/officeDocument/2006/relationships/slideMaster" Target="/ppt/slideMasters/slideMaster1.xml" Id="R8de2406ac1fb485e" /><Relationship Type="http://schemas.openxmlformats.org/officeDocument/2006/relationships/notesMaster" Target="/ppt/notesMasters/notesMaster1.xml" Id="R3932787e260d4424" /><Relationship Type="http://schemas.openxmlformats.org/officeDocument/2006/relationships/presProps" Target="/ppt/presProps.xml" Id="Ra338232fa5c246cc" /><Relationship Type="http://schemas.openxmlformats.org/officeDocument/2006/relationships/tableStyles" Target="/ppt/tableStyles.xml" Id="Rbcdedd05fa9c4410" /><Relationship Type="http://schemas.openxmlformats.org/officeDocument/2006/relationships/slide" Target="/ppt/slides/slide1.xml" Id="Radc58e414b58439f" /><Relationship Type="http://schemas.openxmlformats.org/officeDocument/2006/relationships/slide" Target="/ppt/slides/slide2.xml" Id="Rbd88c7761ede4a07" /><Relationship Type="http://schemas.openxmlformats.org/officeDocument/2006/relationships/slide" Target="/ppt/slides/slide3.xml" Id="Ra4299a3479fc4af3" /><Relationship Type="http://schemas.openxmlformats.org/officeDocument/2006/relationships/slide" Target="/ppt/slides/slide4.xml" Id="R150f0f2ffed04539" /><Relationship Type="http://schemas.openxmlformats.org/officeDocument/2006/relationships/slide" Target="/ppt/slides/slide5.xml" Id="R1f7f0d6eea7f409d" /><Relationship Type="http://schemas.openxmlformats.org/officeDocument/2006/relationships/slide" Target="/ppt/slides/slide6.xml" Id="R414645dba87b497f" /><Relationship Type="http://schemas.openxmlformats.org/officeDocument/2006/relationships/slide" Target="/ppt/slides/slide7.xml" Id="R2343b43159b2408a" /><Relationship Type="http://schemas.openxmlformats.org/officeDocument/2006/relationships/slide" Target="/ppt/slides/slide8.xml" Id="R3463e74d4b8848e1" /><Relationship Type="http://schemas.openxmlformats.org/officeDocument/2006/relationships/slide" Target="/ppt/slides/slide9.xml" Id="R569ea5f848b24c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b630a326f644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5171bf72c14af4" /><Relationship Type="http://schemas.openxmlformats.org/officeDocument/2006/relationships/notesMaster" Target="/ppt/notesMasters/notesMaster1.xml" Id="Rd5136d0b6a0144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eb718c077e42d6" /><Relationship Type="http://schemas.openxmlformats.org/officeDocument/2006/relationships/notesMaster" Target="/ppt/notesMasters/notesMaster1.xml" Id="Re3ad49595c6342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37c59cc18c4d3d" /><Relationship Type="http://schemas.openxmlformats.org/officeDocument/2006/relationships/notesMaster" Target="/ppt/notesMasters/notesMaster1.xml" Id="R3bc15b10d48243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cf7e916cdc45d2" /><Relationship Type="http://schemas.openxmlformats.org/officeDocument/2006/relationships/notesMaster" Target="/ppt/notesMasters/notesMaster1.xml" Id="R2f5f95d54f064d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398da672d04ee5" /><Relationship Type="http://schemas.openxmlformats.org/officeDocument/2006/relationships/notesMaster" Target="/ppt/notesMasters/notesMaster1.xml" Id="R92181f011a324d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df5412fd8f404f" /><Relationship Type="http://schemas.openxmlformats.org/officeDocument/2006/relationships/notesMaster" Target="/ppt/notesMasters/notesMaster1.xml" Id="R3825c420cba640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4624f298514145" /><Relationship Type="http://schemas.openxmlformats.org/officeDocument/2006/relationships/notesMaster" Target="/ppt/notesMasters/notesMaster1.xml" Id="R0101f5517b4549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3e4d1c2de164c56" /><Relationship Type="http://schemas.openxmlformats.org/officeDocument/2006/relationships/notesMaster" Target="/ppt/notesMasters/notesMaster1.xml" Id="R19a6b94a1e9a4c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f87760a07e4243" /><Relationship Type="http://schemas.openxmlformats.org/officeDocument/2006/relationships/notesMaster" Target="/ppt/notesMasters/notesMaster1.xml" Id="R126d4d6f203c4d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Mở đầu: giới thiệu tên dự án, vai trò sinh viên và phạm vi Sprint 2–3.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Liên hệ mục tiêu với backlog Jira P2193.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Số task lấy từ Jira Sprint 2 và danh sách task Sprint 3; epic không tính vào 15 task chức năng.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Giải thích Android là sản phẩm chính; web, backend và SQLite là lớp hỗ trợ.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điều hướng xuyên suốt dữ liệu, không tạo bản ghi rời rạc.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Trình diễn chọn luật, cấm/chọn thủ công và All Random có ràng buộc vai trò.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Nêu khả năng lọc theo vai trò và mở chi tiết dữ liệu.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đánh dấu Done cho bằng chứng triển khai chưa xác minh.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Kết thúc, mời đặt câu hỏi và chuyển sang video demo nếu cần.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c0691b4a6a4b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e32cda4fef4da6" /><Relationship Type="http://schemas.openxmlformats.org/officeDocument/2006/relationships/slideLayout" Target="/ppt/slideLayouts/slideLayout1.xml" Id="R0cb9ba8b1b2d41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b9ba8b1b2d41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57a5e563574609" /><Relationship Type="http://schemas.openxmlformats.org/officeDocument/2006/relationships/image" Target="/ppt/media/image.png" Id="Rc2a65e4967e14faa" /><Relationship Type="http://schemas.openxmlformats.org/officeDocument/2006/relationships/notesSlide" Target="/ppt/notesSlides/notesSlide1.xml" Id="R27ebd05c20ae4e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b2a3ae57344dc2" /><Relationship Type="http://schemas.openxmlformats.org/officeDocument/2006/relationships/image" Target="/ppt/media/image2.png" Id="R390bf0a92333474b" /><Relationship Type="http://schemas.openxmlformats.org/officeDocument/2006/relationships/notesSlide" Target="/ppt/notesSlides/notesSlide2.xml" Id="Rdbb44c6d309145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8355a7b7194983" /><Relationship Type="http://schemas.openxmlformats.org/officeDocument/2006/relationships/notesSlide" Target="/ppt/notesSlides/notesSlide3.xml" Id="Rc6ea279d421d44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0d99b81a8b4287" /><Relationship Type="http://schemas.openxmlformats.org/officeDocument/2006/relationships/notesSlide" Target="/ppt/notesSlides/notesSlide4.xml" Id="Rc0cd4b3d63ab43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b0b2344544459a" /><Relationship Type="http://schemas.openxmlformats.org/officeDocument/2006/relationships/image" Target="/ppt/media/image3.png" Id="Ra229190ae41641e4" /><Relationship Type="http://schemas.openxmlformats.org/officeDocument/2006/relationships/image" Target="/ppt/media/image4.png" Id="R1d661243eb9c4b7e" /><Relationship Type="http://schemas.openxmlformats.org/officeDocument/2006/relationships/notesSlide" Target="/ppt/notesSlides/notesSlide5.xml" Id="R50086f5455004f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641fca0a824dda" /><Relationship Type="http://schemas.openxmlformats.org/officeDocument/2006/relationships/image" Target="/ppt/media/image5.png" Id="R7dd05f2f33644c73" /><Relationship Type="http://schemas.openxmlformats.org/officeDocument/2006/relationships/image" Target="/ppt/media/image6.png" Id="Rc2f28ffd67914dec" /><Relationship Type="http://schemas.openxmlformats.org/officeDocument/2006/relationships/notesSlide" Target="/ppt/notesSlides/notesSlide6.xml" Id="R2c22424300d44f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72af91d2ab4323" /><Relationship Type="http://schemas.openxmlformats.org/officeDocument/2006/relationships/image" Target="/ppt/media/image7.png" Id="Re16a956d327f42ef" /><Relationship Type="http://schemas.openxmlformats.org/officeDocument/2006/relationships/image" Target="/ppt/media/image8.png" Id="R1e91f773ff424ae7" /><Relationship Type="http://schemas.openxmlformats.org/officeDocument/2006/relationships/image" Target="/ppt/media/image9.png" Id="Rca4df15a4a8e4285" /><Relationship Type="http://schemas.openxmlformats.org/officeDocument/2006/relationships/notesSlide" Target="/ppt/notesSlides/notesSlide7.xml" Id="R666c163d30c546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3acdcbaa2240f3" /><Relationship Type="http://schemas.openxmlformats.org/officeDocument/2006/relationships/notesSlide" Target="/ppt/notesSlides/notesSlide8.xml" Id="R9124a9ebf22e4f6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f075fafacf4c57" /><Relationship Type="http://schemas.openxmlformats.org/officeDocument/2006/relationships/notesSlide" Target="/ppt/notesSlides/notesSlide9.xml" Id="Rf3fbefd3521a42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BC87C6-BF7A-4B1C-B3F8-9D6580AD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583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6C74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6C744"/>
                </a:solidFill>
                <a:latin typeface="Arial"/>
                <a:ea typeface="Arial"/>
                <a:cs typeface="Arial"/>
              </a:rPr>
              <a:t>BÁO CÁO DỰ ÁN • SPRINT 2 &amp;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3F9E36-EA13-4534-AD14-F6F76CFA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3F6FC"/>
                </a:solidFill>
                <a:latin typeface="Arial"/>
                <a:ea typeface="Arial"/>
                <a:cs typeface="Arial"/>
              </a:rPr>
              <a:t>GEKISHIN SQUADRA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E8BC8D-5FE3-4A5A-BC0B-B123DA75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10858500" cy="2857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A2987D-BC22-4077-AFBA-2C87EFEA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EB8C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8CC"/>
                </a:solidFill>
                <a:latin typeface="Arial"/>
                <a:ea typeface="Arial"/>
                <a:cs typeface="Arial"/>
              </a:rPr>
              <a:t>P2193  •  Trần Nguyễn Phi Vũ  •  22050102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0871C9-BCD4-4F8F-9CE3-F1CE6121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6C74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6C744"/>
                </a:solidFill>
                <a:latin typeface="Arial"/>
                <a:ea typeface="Arial"/>
                <a:cs typeface="Arial"/>
              </a:rPr>
              <a:t>Tournament &amp; Draft Companion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4E0FD3-C80B-40EE-AEFB-B583EC3E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8C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8CC"/>
                </a:solidFill>
                <a:latin typeface="Arial"/>
                <a:ea typeface="Arial"/>
                <a:cs typeface="Arial"/>
              </a:rPr>
              <a:t>Android-first • Offline Demo • Web/Backend hỗ trợ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a65e4967e14faa"/>
          <a:stretch xmlns:a="http://schemas.openxmlformats.org/drawingml/2006/main"/>
        </p:blipFill>
        <p:spPr>
          <a:xfrm xmlns:a="http://schemas.openxmlformats.org/drawingml/2006/main">
            <a:off x="6667500" y="2280047"/>
            <a:ext cx="4762500" cy="267890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2AE340-1261-49F6-AA9B-E7EC63C0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533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3F6FC"/>
                </a:solidFill>
                <a:latin typeface="Arial"/>
                <a:ea typeface="Arial"/>
                <a:cs typeface="Arial"/>
              </a:rPr>
              <a:t>Ứng dụng hỗ trợ tổ chức giải, quản lý đội và luyện Draft theo luật thi đấu.</a:t>
            </a:r>
          </a:p>
        </p:txBody>
      </p:sp>
    </p:spTree>
    <p:extLst>
      <p:ext uri="{BB962C8B-B14F-4D97-AF65-F5344CB8AC3E}">
        <p14:creationId xmlns:p14="http://schemas.microsoft.com/office/powerpoint/2010/main" val="10574190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CD352A-A890-43B6-9E7C-E6CE6631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6C74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6C744"/>
                </a:solidFill>
                <a:latin typeface="Arial"/>
                <a:ea typeface="Arial"/>
                <a:cs typeface="Arial"/>
              </a:rPr>
              <a:t>SPRINT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F8E816-4C70-4F8B-8A9C-66D106E7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3F6FC"/>
                </a:solidFill>
                <a:latin typeface="Arial"/>
                <a:ea typeface="Arial"/>
                <a:cs typeface="Arial"/>
              </a:rPr>
              <a:t>Bài toán và mục tiêu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D94A4D-A92C-42F0-AE78-62E4C993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10858500" cy="2857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3B830D-3072-43DD-9BD6-82503941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EB8C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8CC"/>
                </a:solidFill>
                <a:latin typeface="Arial"/>
                <a:ea typeface="Arial"/>
                <a:cs typeface="Arial"/>
              </a:rPr>
              <a:t>P2193  •  Trần Nguyễn Phi Vũ  •  22050102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F01C47-9F93-4C59-9578-3CAB5374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5905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3F6FC"/>
                </a:solidFill>
                <a:latin typeface="Arial"/>
                <a:ea typeface="Arial"/>
                <a:cs typeface="Arial"/>
              </a:rPr>
              <a:t>• Chuẩn hóa đội hình 4 người: 2 Damage • 1 Tank • 1 Technical</a:t>
            </a:r>
          </a:p>
          <a:p xmlns:a="http://schemas.openxmlformats.org/drawingml/2006/main">
            <a:pPr>
              <a:defRPr sz="1800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3F6FC"/>
                </a:solidFill>
                <a:latin typeface="Arial"/>
                <a:ea typeface="Arial"/>
                <a:cs typeface="Arial"/>
              </a:rPr>
              <a:t>• Quản lý đội, thành viên, giải, trận, bracket và check-in</a:t>
            </a:r>
          </a:p>
          <a:p xmlns:a="http://schemas.openxmlformats.org/drawingml/2006/main">
            <a:pPr>
              <a:defRPr sz="1800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3F6FC"/>
                </a:solidFill>
                <a:latin typeface="Arial"/>
                <a:ea typeface="Arial"/>
                <a:cs typeface="Arial"/>
              </a:rPr>
              <a:t>• Hỗ trợ Ban/Pick, All Random, nhiều luật Draft và Divine Cards</a:t>
            </a:r>
          </a:p>
          <a:p xmlns:a="http://schemas.openxmlformats.org/drawingml/2006/main">
            <a:pPr>
              <a:defRPr sz="1800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3F6FC"/>
                </a:solidFill>
                <a:latin typeface="Arial"/>
                <a:ea typeface="Arial"/>
                <a:cs typeface="Arial"/>
              </a:rPr>
              <a:t>• Có chế độ Offline Demo; sẵn sàng tích hợp API/Socket.IO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0bf0a92333474b"/>
          <a:stretch xmlns:a="http://schemas.openxmlformats.org/drawingml/2006/main"/>
        </p:blipFill>
        <p:spPr>
          <a:xfrm xmlns:a="http://schemas.openxmlformats.org/drawingml/2006/main">
            <a:off x="7000875" y="2376785"/>
            <a:ext cx="4333875" cy="2437805"/>
          </a:xfrm>
          <a:prstGeom xmlns:a="http://schemas.openxmlformats.org/drawingml/2006/main" prst="roundRect">
            <a:avLst>
              <a:gd name="adj" fmla="val 2963"/>
            </a:avLst>
          </a:prstGeom>
        </p:spPr>
      </p:pic>
    </p:spTree>
    <p:extLst>
      <p:ext uri="{BB962C8B-B14F-4D97-AF65-F5344CB8AC3E}">
        <p14:creationId xmlns:p14="http://schemas.microsoft.com/office/powerpoint/2010/main" val="17472552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9247C4-C7E5-4610-ADB3-8459C36B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6C74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6C744"/>
                </a:solidFill>
                <a:latin typeface="Arial"/>
                <a:ea typeface="Arial"/>
                <a:cs typeface="Arial"/>
              </a:rPr>
              <a:t>SPRINT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EF607C-B5DE-480A-8D22-49AA5EE6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3F6FC"/>
                </a:solidFill>
                <a:latin typeface="Arial"/>
                <a:ea typeface="Arial"/>
                <a:cs typeface="Arial"/>
              </a:rPr>
              <a:t>Kết quả qua hai Sprint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78981E-164F-49BB-A77D-DEF639DB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10858500" cy="2857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BEFD08-716E-4253-9917-3FE3158E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EB8C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8CC"/>
                </a:solidFill>
                <a:latin typeface="Arial"/>
                <a:ea typeface="Arial"/>
                <a:cs typeface="Arial"/>
              </a:rPr>
              <a:t>P2193  •  Trần Nguyễn Phi Vũ  •  22050102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29C492-3138-43B7-B71E-9FBE5BFA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381250" cy="1809750"/>
          </a:xfrm>
          <a:prstGeom xmlns:a="http://schemas.openxmlformats.org/drawingml/2006/main" prst="roundRect">
            <a:avLst>
              <a:gd name="adj" fmla="val 4211"/>
            </a:avLst>
          </a:prstGeom>
          <a:ln xmlns:a="http://schemas.openxmlformats.org/drawingml/2006/main" w="28575">
            <a:solidFill>
              <a:srgbClr val="36D08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760F6-4F8E-496F-95D2-9648025B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36D08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36D08A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60FF3E-1677-48BB-85F0-C2C59007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95625"/>
            <a:ext cx="2038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EB8C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EB8CC"/>
                </a:solidFill>
                <a:latin typeface="Arial"/>
                <a:ea typeface="Arial"/>
                <a:cs typeface="Arial"/>
              </a:rPr>
              <a:t>TASK SPRINT 2</a:t>
            </a:r>
          </a:p>
          <a:p xmlns:a="http://schemas.openxmlformats.org/drawingml/2006/main">
            <a:pPr>
              <a:defRPr sz="1350" b="0">
                <a:solidFill>
                  <a:srgbClr val="AEB8C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EB8CC"/>
                </a:solidFill>
                <a:latin typeface="Arial"/>
                <a:ea typeface="Arial"/>
                <a:cs typeface="Arial"/>
              </a:rPr>
              <a:t>đã Done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6EF22F-3E19-4F9E-ABFB-D9153E41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95500"/>
            <a:ext cx="2381250" cy="1809750"/>
          </a:xfrm>
          <a:prstGeom xmlns:a="http://schemas.openxmlformats.org/drawingml/2006/main" prst="roundRect">
            <a:avLst>
              <a:gd name="adj" fmla="val 4211"/>
            </a:avLst>
          </a:prstGeom>
          <a:ln xmlns:a="http://schemas.openxmlformats.org/drawingml/2006/main" w="28575">
            <a:solidFill>
              <a:srgbClr val="009C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277948-E0DB-4B1B-9958-03EB3623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3362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09C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09CF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DB7BB7-A044-44E7-9BD6-F02DF682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95625"/>
            <a:ext cx="2038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EB8C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EB8CC"/>
                </a:solidFill>
                <a:latin typeface="Arial"/>
                <a:ea typeface="Arial"/>
                <a:cs typeface="Arial"/>
              </a:rPr>
              <a:t>TASK SPRINT 3</a:t>
            </a:r>
          </a:p>
          <a:p xmlns:a="http://schemas.openxmlformats.org/drawingml/2006/main">
            <a:pPr>
              <a:defRPr sz="1350" b="0">
                <a:solidFill>
                  <a:srgbClr val="AEB8C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EB8CC"/>
                </a:solidFill>
                <a:latin typeface="Arial"/>
                <a:ea typeface="Arial"/>
                <a:cs typeface="Arial"/>
              </a:rPr>
              <a:t>trong phạm vi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EAD3AD-8B7B-4091-B071-2E22699C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2381250" cy="1809750"/>
          </a:xfrm>
          <a:prstGeom xmlns:a="http://schemas.openxmlformats.org/drawingml/2006/main" prst="roundRect">
            <a:avLst>
              <a:gd name="adj" fmla="val 4211"/>
            </a:avLst>
          </a:prstGeom>
          <a:ln xmlns:a="http://schemas.openxmlformats.org/drawingml/2006/main" w="28575">
            <a:solidFill>
              <a:srgbClr val="F6C74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4A7D93-560F-458D-B097-3E71BE68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6C744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6C744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033AAF-5CCB-4E95-8EDB-76BD58A2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95625"/>
            <a:ext cx="2038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EB8C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EB8CC"/>
                </a:solidFill>
                <a:latin typeface="Arial"/>
                <a:ea typeface="Arial"/>
                <a:cs typeface="Arial"/>
              </a:rPr>
              <a:t>ĐỘI DEMO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8FE1BB-9383-4D7D-9020-D7A1A679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95500"/>
            <a:ext cx="2381250" cy="1809750"/>
          </a:xfrm>
          <a:prstGeom xmlns:a="http://schemas.openxmlformats.org/drawingml/2006/main" prst="roundRect">
            <a:avLst>
              <a:gd name="adj" fmla="val 4211"/>
            </a:avLst>
          </a:prstGeom>
          <a:ln xmlns:a="http://schemas.openxmlformats.org/drawingml/2006/main" w="28575">
            <a:solidFill>
              <a:srgbClr val="FF557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C621F9-E7C7-49C0-B33C-16902242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3362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5576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5576"/>
                </a:solidFill>
                <a:latin typeface="Arial"/>
                <a:ea typeface="Arial"/>
                <a:cs typeface="Arial"/>
              </a:rPr>
              <a:t>128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876FE2-9777-4788-8C6F-C1D0473D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95625"/>
            <a:ext cx="2038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EB8C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EB8CC"/>
                </a:solidFill>
                <a:latin typeface="Arial"/>
                <a:ea typeface="Arial"/>
                <a:cs typeface="Arial"/>
              </a:rPr>
              <a:t>NGƯỜI CHƠI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26ECFB-6307-42D7-82B4-2298CBAB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3F6FC"/>
                </a:solidFill>
                <a:latin typeface="Arial"/>
                <a:ea typeface="Arial"/>
                <a:cs typeface="Arial"/>
              </a:rPr>
              <a:t>Sprint 2 xây nền tảng kỹ thuật và chức năng lõi. Sprint 3 hoàn thiện dữ liệu, liên kết, QA và hồ sơ bàn giao.</a:t>
            </a:r>
          </a:p>
        </p:txBody>
      </p:sp>
    </p:spTree>
    <p:extLst>
      <p:ext uri="{BB962C8B-B14F-4D97-AF65-F5344CB8AC3E}">
        <p14:creationId xmlns:p14="http://schemas.microsoft.com/office/powerpoint/2010/main" val="4667001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E5C16B-239F-4A55-8D68-4634562B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6C74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6C744"/>
                </a:solidFill>
                <a:latin typeface="Arial"/>
                <a:ea typeface="Arial"/>
                <a:cs typeface="Arial"/>
              </a:rPr>
              <a:t>SPRINT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01B07D-EE55-414A-A46D-6B290834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3F6FC"/>
                </a:solidFill>
                <a:latin typeface="Arial"/>
                <a:ea typeface="Arial"/>
                <a:cs typeface="Arial"/>
              </a:rPr>
              <a:t>Kiến trúc hệ thống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B7D93F-077F-4537-8B32-E96EF9F9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10858500" cy="2857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E7BB66-7BDA-4A9B-9493-B3B99B6D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EB8C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8CC"/>
                </a:solidFill>
                <a:latin typeface="Arial"/>
                <a:ea typeface="Arial"/>
                <a:cs typeface="Arial"/>
              </a:rPr>
              <a:t>P2193  •  Trần Nguyễn Phi Vũ  •  22050102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6B022D-74CD-41BD-91DA-F1FC076D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66875"/>
            <a:ext cx="8953500" cy="742950"/>
          </a:xfrm>
          <a:prstGeom xmlns:a="http://schemas.openxmlformats.org/drawingml/2006/main" prst="roundRect">
            <a:avLst>
              <a:gd name="adj" fmla="val 10256"/>
            </a:avLst>
          </a:prstGeom>
          <a:ln xmlns:a="http://schemas.openxmlformats.org/drawingml/2006/main" w="28575">
            <a:solidFill>
              <a:srgbClr val="009C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9A2F89-0860-4646-8917-76552075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7621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9C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CFF"/>
                </a:solidFill>
                <a:latin typeface="Arial"/>
                <a:ea typeface="Arial"/>
                <a:cs typeface="Arial"/>
              </a:rPr>
              <a:t>ANDROID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4044BC-8D95-4050-8622-C585EB05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62125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3F6FC"/>
                </a:solidFill>
                <a:latin typeface="Arial"/>
                <a:ea typeface="Arial"/>
                <a:cs typeface="Arial"/>
              </a:rPr>
              <a:t>Kotlin • Compose • WebView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97DF1C-C4AD-4E39-B16A-6EB9C941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67000"/>
            <a:ext cx="8953500" cy="742950"/>
          </a:xfrm>
          <a:prstGeom xmlns:a="http://schemas.openxmlformats.org/drawingml/2006/main" prst="roundRect">
            <a:avLst>
              <a:gd name="adj" fmla="val 10256"/>
            </a:avLst>
          </a:prstGeom>
          <a:ln xmlns:a="http://schemas.openxmlformats.org/drawingml/2006/main" w="28575">
            <a:solidFill>
              <a:srgbClr val="F6C74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B0AD45-81AD-4A22-A30B-93D2E02D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76225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6C7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6C744"/>
                </a:solidFill>
                <a:latin typeface="Arial"/>
                <a:ea typeface="Arial"/>
                <a:cs typeface="Arial"/>
              </a:rPr>
              <a:t>FRONTEND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6AF386-D137-4D07-A91D-4B4DBFF3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6225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3F6FC"/>
                </a:solidFill>
                <a:latin typeface="Arial"/>
                <a:ea typeface="Arial"/>
                <a:cs typeface="Arial"/>
              </a:rPr>
              <a:t>HTML • CSS • JavaScript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3FC993-5DE7-44AD-850C-6069A1E3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67125"/>
            <a:ext cx="8953500" cy="742950"/>
          </a:xfrm>
          <a:prstGeom xmlns:a="http://schemas.openxmlformats.org/drawingml/2006/main" prst="roundRect">
            <a:avLst>
              <a:gd name="adj" fmla="val 10256"/>
            </a:avLst>
          </a:prstGeom>
          <a:ln xmlns:a="http://schemas.openxmlformats.org/drawingml/2006/main" w="28575">
            <a:solidFill>
              <a:srgbClr val="36D08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0A6C4B-4869-43ED-921A-1444599F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76237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6D08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6D08A"/>
                </a:solidFill>
                <a:latin typeface="Arial"/>
                <a:ea typeface="Arial"/>
                <a:cs typeface="Arial"/>
              </a:rPr>
              <a:t>BACKEND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79237D-27CF-4347-80EC-BA949E21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62375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3F6FC"/>
                </a:solidFill>
                <a:latin typeface="Arial"/>
                <a:ea typeface="Arial"/>
                <a:cs typeface="Arial"/>
              </a:rPr>
              <a:t>Node.js • Express • Socket.IO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E24977-4327-4E4E-B2C1-FCD95C24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67250"/>
            <a:ext cx="8953500" cy="742950"/>
          </a:xfrm>
          <a:prstGeom xmlns:a="http://schemas.openxmlformats.org/drawingml/2006/main" prst="roundRect">
            <a:avLst>
              <a:gd name="adj" fmla="val 10256"/>
            </a:avLst>
          </a:prstGeom>
          <a:ln xmlns:a="http://schemas.openxmlformats.org/drawingml/2006/main" w="28575">
            <a:solidFill>
              <a:srgbClr val="FF557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F22CCF-F824-428A-B078-DBDF9841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76250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557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5576"/>
                </a:solidFill>
                <a:latin typeface="Arial"/>
                <a:ea typeface="Arial"/>
                <a:cs typeface="Arial"/>
              </a:rPr>
              <a:t>DATABASE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2F104A-284B-4641-81B8-CA1FA021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6250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3F6FC"/>
                </a:solidFill>
                <a:latin typeface="Arial"/>
                <a:ea typeface="Arial"/>
                <a:cs typeface="Arial"/>
              </a:rPr>
              <a:t>SQLite • PK/FK • lịch sử</a:t>
            </a:r>
          </a:p>
        </p:txBody>
      </p:sp>
    </p:spTree>
    <p:extLst>
      <p:ext uri="{BB962C8B-B14F-4D97-AF65-F5344CB8AC3E}">
        <p14:creationId xmlns:p14="http://schemas.microsoft.com/office/powerpoint/2010/main" val="2656921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DAA636-90F5-45D1-B5EA-F76F4726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6C74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6C744"/>
                </a:solidFill>
                <a:latin typeface="Arial"/>
                <a:ea typeface="Arial"/>
                <a:cs typeface="Arial"/>
              </a:rPr>
              <a:t>SPRINT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07AFFE-15B5-441C-BC26-144EF712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3F6FC"/>
                </a:solidFill>
                <a:latin typeface="Arial"/>
                <a:ea typeface="Arial"/>
                <a:cs typeface="Arial"/>
              </a:rPr>
              <a:t>Đội, giải đấu và dữ liệu liên kết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9B6DFB-B9FD-47D8-B7DA-CC44ED73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10858500" cy="2857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CB1C80-9A83-4C5B-A0E1-BD9B41B5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EB8C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8CC"/>
                </a:solidFill>
                <a:latin typeface="Arial"/>
                <a:ea typeface="Arial"/>
                <a:cs typeface="Arial"/>
              </a:rPr>
              <a:t>P2193  •  Trần Nguyễn Phi Vũ  •  22050102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29190ae41641e4"/>
          <a:stretch xmlns:a="http://schemas.openxmlformats.org/drawingml/2006/main"/>
        </p:blipFill>
        <p:spPr>
          <a:xfrm xmlns:a="http://schemas.openxmlformats.org/drawingml/2006/main">
            <a:off x="619125" y="2071688"/>
            <a:ext cx="5334000" cy="3000375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661243eb9c4b7e"/>
          <a:stretch xmlns:a="http://schemas.openxmlformats.org/drawingml/2006/main"/>
        </p:blipFill>
        <p:spPr>
          <a:xfrm xmlns:a="http://schemas.openxmlformats.org/drawingml/2006/main">
            <a:off x="6238875" y="2071688"/>
            <a:ext cx="5334000" cy="3000375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7A934C-7ABC-40DF-BCDE-21E009B7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62625"/>
            <a:ext cx="914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6C7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6C744"/>
                </a:solidFill>
                <a:latin typeface="Arial"/>
                <a:ea typeface="Arial"/>
                <a:cs typeface="Arial"/>
              </a:rPr>
              <a:t>Tournament → Match → Team → Member → Profile → History</a:t>
            </a:r>
          </a:p>
        </p:txBody>
      </p:sp>
    </p:spTree>
    <p:extLst>
      <p:ext uri="{BB962C8B-B14F-4D97-AF65-F5344CB8AC3E}">
        <p14:creationId xmlns:p14="http://schemas.microsoft.com/office/powerpoint/2010/main" val="19975487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15351E-A813-46F2-B419-D663F10A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6C74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6C744"/>
                </a:solidFill>
                <a:latin typeface="Arial"/>
                <a:ea typeface="Arial"/>
                <a:cs typeface="Arial"/>
              </a:rPr>
              <a:t>SPRINT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6FD270-5B93-46D7-ADEC-ECE45764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3F6FC"/>
                </a:solidFill>
                <a:latin typeface="Arial"/>
                <a:ea typeface="Arial"/>
                <a:cs typeface="Arial"/>
              </a:rPr>
              <a:t>Quick Draft, Ban/Pick và Randomize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686708-57DF-41F8-8B3D-7F2CF973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10858500" cy="2857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4666E5-F9A4-4EF0-B501-CC522844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EB8C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8CC"/>
                </a:solidFill>
                <a:latin typeface="Arial"/>
                <a:ea typeface="Arial"/>
                <a:cs typeface="Arial"/>
              </a:rPr>
              <a:t>P2193  •  Trần Nguyễn Phi Vũ  •  22050102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d05f2f33644c73"/>
          <a:stretch xmlns:a="http://schemas.openxmlformats.org/drawingml/2006/main"/>
        </p:blipFill>
        <p:spPr>
          <a:xfrm xmlns:a="http://schemas.openxmlformats.org/drawingml/2006/main">
            <a:off x="523875" y="2065734"/>
            <a:ext cx="5524500" cy="3107531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f28ffd67914dec"/>
          <a:stretch xmlns:a="http://schemas.openxmlformats.org/drawingml/2006/main"/>
        </p:blipFill>
        <p:spPr>
          <a:xfrm xmlns:a="http://schemas.openxmlformats.org/drawingml/2006/main">
            <a:off x="6191250" y="2079129"/>
            <a:ext cx="5476875" cy="3080742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B5C5BC-13A6-4E66-A605-FF7A24ED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810250"/>
            <a:ext cx="962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6C7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6C744"/>
                </a:solidFill>
                <a:latin typeface="Arial"/>
                <a:ea typeface="Arial"/>
                <a:cs typeface="Arial"/>
              </a:rPr>
              <a:t>Normal • Squadra Blast • No Team Repeat • Fearless Draft</a:t>
            </a:r>
          </a:p>
        </p:txBody>
      </p:sp>
    </p:spTree>
    <p:extLst>
      <p:ext uri="{BB962C8B-B14F-4D97-AF65-F5344CB8AC3E}">
        <p14:creationId xmlns:p14="http://schemas.microsoft.com/office/powerpoint/2010/main" val="10893000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B59CFA-15F9-4310-8929-D5ED58E2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6C74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6C744"/>
                </a:solidFill>
                <a:latin typeface="Arial"/>
                <a:ea typeface="Arial"/>
                <a:cs typeface="Arial"/>
              </a:rPr>
              <a:t>SPRINT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A31443-9BD1-4503-9EFF-7F6FF660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3F6FC"/>
                </a:solidFill>
                <a:latin typeface="Arial"/>
                <a:ea typeface="Arial"/>
                <a:cs typeface="Arial"/>
              </a:rPr>
              <a:t>Tra cứu nhân vật, kỹ năng và Divine Cards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C7EDE2-D763-484A-A4D8-ED6322DA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10858500" cy="2857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379381-B6A3-4C98-A939-D6FDF40B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EB8C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8CC"/>
                </a:solidFill>
                <a:latin typeface="Arial"/>
                <a:ea typeface="Arial"/>
                <a:cs typeface="Arial"/>
              </a:rPr>
              <a:t>P2193  •  Trần Nguyễn Phi Vũ  •  22050102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6a956d327f42ef"/>
          <a:stretch xmlns:a="http://schemas.openxmlformats.org/drawingml/2006/main"/>
        </p:blipFill>
        <p:spPr>
          <a:xfrm xmlns:a="http://schemas.openxmlformats.org/drawingml/2006/main">
            <a:off x="619125" y="2610445"/>
            <a:ext cx="3333750" cy="1875234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91f773ff424ae7"/>
          <a:stretch xmlns:a="http://schemas.openxmlformats.org/drawingml/2006/main"/>
        </p:blipFill>
        <p:spPr>
          <a:xfrm xmlns:a="http://schemas.openxmlformats.org/drawingml/2006/main">
            <a:off x="4429125" y="2610445"/>
            <a:ext cx="3333750" cy="1875234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4df15a4a8e4285"/>
          <a:stretch xmlns:a="http://schemas.openxmlformats.org/drawingml/2006/main"/>
        </p:blipFill>
        <p:spPr>
          <a:xfrm xmlns:a="http://schemas.openxmlformats.org/drawingml/2006/main">
            <a:off x="8239125" y="2610445"/>
            <a:ext cx="3333750" cy="1875234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AD2AF1-2A6A-4BEE-B4E4-E73666A3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810250"/>
            <a:ext cx="828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6C7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6C744"/>
                </a:solidFill>
                <a:latin typeface="Arial"/>
                <a:ea typeface="Arial"/>
                <a:cs typeface="Arial"/>
              </a:rPr>
              <a:t>40 nhân vật • hồ sơ skill/build • 18 Divine Cards</a:t>
            </a:r>
          </a:p>
        </p:txBody>
      </p:sp>
    </p:spTree>
    <p:extLst>
      <p:ext uri="{BB962C8B-B14F-4D97-AF65-F5344CB8AC3E}">
        <p14:creationId xmlns:p14="http://schemas.microsoft.com/office/powerpoint/2010/main" val="7110154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8B5D7E-9A3B-4D56-A3B9-A40D278B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6C74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6C744"/>
                </a:solidFill>
                <a:latin typeface="Arial"/>
                <a:ea typeface="Arial"/>
                <a:cs typeface="Arial"/>
              </a:rPr>
              <a:t>SPRINT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4357C9-D450-4C1C-9C2A-9CB9D6A4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3F6FC"/>
                </a:solidFill>
                <a:latin typeface="Arial"/>
                <a:ea typeface="Arial"/>
                <a:cs typeface="Arial"/>
              </a:rPr>
              <a:t>Kiểm thử và bằng chứng Jira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D11F22-8A8B-4A0C-9D93-D951992F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10858500" cy="2857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AA63B1-0C24-4E65-8CE8-CEBE82AD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EB8C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8CC"/>
                </a:solidFill>
                <a:latin typeface="Arial"/>
                <a:ea typeface="Arial"/>
                <a:cs typeface="Arial"/>
              </a:rPr>
              <a:t>P2193  •  Trần Nguyễn Phi Vũ  •  22050102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E35E5-7AEF-455B-8BA4-6462A41A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66875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ln xmlns:a="http://schemas.openxmlformats.org/drawingml/2006/main" w="9525">
            <a:solidFill>
              <a:srgbClr val="28334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5892C5-3267-45E4-AF10-E80AA190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743075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9C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CFF"/>
                </a:solidFill>
                <a:latin typeface="Arial"/>
                <a:ea typeface="Arial"/>
                <a:cs typeface="Arial"/>
              </a:rPr>
              <a:t>ANDROID UI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9B242A-24DC-40AA-A125-B147ED5B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43075"/>
            <a:ext cx="581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6FC"/>
                </a:solidFill>
                <a:latin typeface="Arial"/>
                <a:ea typeface="Arial"/>
                <a:cs typeface="Arial"/>
              </a:rPr>
              <a:t>Portrait/landscape • Touch • Back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F9471F-C5C6-4C1C-A24C-62C87138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43075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6D08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6D08A"/>
                </a:solidFill>
                <a:latin typeface="Arial"/>
                <a:ea typeface="Arial"/>
                <a:cs typeface="Arial"/>
              </a:rPr>
              <a:t>ĐẠT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91F459-34A9-422A-8FC7-6D5ABDD9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ln xmlns:a="http://schemas.openxmlformats.org/drawingml/2006/main" w="9525">
            <a:solidFill>
              <a:srgbClr val="28334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89351D-CF9F-4EE6-8CE3-62FD00E1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479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9C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CFF"/>
                </a:solidFill>
                <a:latin typeface="Arial"/>
                <a:ea typeface="Arial"/>
                <a:cs typeface="Arial"/>
              </a:rPr>
              <a:t>DRAFT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2BE922-31DB-4A1A-915B-69396EA7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47950"/>
            <a:ext cx="581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6FC"/>
                </a:solidFill>
                <a:latin typeface="Arial"/>
                <a:ea typeface="Arial"/>
                <a:cs typeface="Arial"/>
              </a:rPr>
              <a:t>Ban/Pick • Random • luật vai trò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1A19FA-D57C-4BA9-B28F-73FC7780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47950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6D08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6D08A"/>
                </a:solidFill>
                <a:latin typeface="Arial"/>
                <a:ea typeface="Arial"/>
                <a:cs typeface="Arial"/>
              </a:rPr>
              <a:t>ĐẠT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AE7FE6-F465-4641-8DB3-5E1531DA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ln xmlns:a="http://schemas.openxmlformats.org/drawingml/2006/main" w="9525">
            <a:solidFill>
              <a:srgbClr val="28334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BC44F9-B997-4412-AD78-C46141DF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52825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9C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CFF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65A061-B0B5-4011-B79F-8687B3BD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52825"/>
            <a:ext cx="581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6FC"/>
                </a:solidFill>
                <a:latin typeface="Arial"/>
                <a:ea typeface="Arial"/>
                <a:cs typeface="Arial"/>
              </a:rPr>
              <a:t>Đội • thành viên • giải • trận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8D8262-A578-42AA-AE98-204E6F36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52825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6D08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6D08A"/>
                </a:solidFill>
                <a:latin typeface="Arial"/>
                <a:ea typeface="Arial"/>
                <a:cs typeface="Arial"/>
              </a:rPr>
              <a:t>ĐẠT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313955-AE6D-4655-B5A7-BA23531E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ln xmlns:a="http://schemas.openxmlformats.org/drawingml/2006/main" w="9525">
            <a:solidFill>
              <a:srgbClr val="28334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DDC1C4-D9BA-4A81-862C-B12ECCFA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577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6C7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6C744"/>
                </a:solidFill>
                <a:latin typeface="Arial"/>
                <a:ea typeface="Arial"/>
                <a:cs typeface="Arial"/>
              </a:rPr>
              <a:t>ONLINE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4AAF2B-30D9-4612-9D3F-7332F0A5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57700"/>
            <a:ext cx="581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6FC"/>
                </a:solidFill>
                <a:latin typeface="Arial"/>
                <a:ea typeface="Arial"/>
                <a:cs typeface="Arial"/>
              </a:rPr>
              <a:t>API/Socket.IO theo môi trường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0BA396-01FF-4FD3-8107-0674698B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57700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6C74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6C744"/>
                </a:solidFill>
                <a:latin typeface="Arial"/>
                <a:ea typeface="Arial"/>
                <a:cs typeface="Arial"/>
              </a:rPr>
              <a:t>XÁC MINH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25F398-09E1-4D55-90B2-D74E1AD8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5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6FC"/>
                </a:solidFill>
                <a:latin typeface="Arial"/>
                <a:ea typeface="Arial"/>
                <a:cs typeface="Arial"/>
              </a:rPr>
              <a:t>Mỗi task được gắn ảnh đúng chức năng; task GitHub chỉ chốt sau khi URL công khai truy cập được.</a:t>
            </a:r>
          </a:p>
        </p:txBody>
      </p:sp>
    </p:spTree>
    <p:extLst>
      <p:ext uri="{BB962C8B-B14F-4D97-AF65-F5344CB8AC3E}">
        <p14:creationId xmlns:p14="http://schemas.microsoft.com/office/powerpoint/2010/main" val="20709583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38D29-F483-45C8-B294-BAE3B831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6C74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6C744"/>
                </a:solidFill>
                <a:latin typeface="Arial"/>
                <a:ea typeface="Arial"/>
                <a:cs typeface="Arial"/>
              </a:rPr>
              <a:t>SPRINT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530622-C474-4F8D-8D2B-291FF569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3F6FC"/>
                </a:solidFill>
                <a:latin typeface="Arial"/>
                <a:ea typeface="Arial"/>
                <a:cs typeface="Arial"/>
              </a:rPr>
              <a:t>Kết luận và hướng phát triển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57B1F9-1C88-4E22-A6A0-DC73AE2F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10858500" cy="2857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CBF012-2C67-4D97-A887-37DF3459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EB8C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8CC"/>
                </a:solidFill>
                <a:latin typeface="Arial"/>
                <a:ea typeface="Arial"/>
                <a:cs typeface="Arial"/>
              </a:rPr>
              <a:t>P2193  •  Trần Nguyễn Phi Vũ  •  22050102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4CE34C-A008-48AE-8D49-859B7F53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66875"/>
            <a:ext cx="102870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3F6FC"/>
                </a:solidFill>
                <a:latin typeface="Arial"/>
                <a:ea typeface="Arial"/>
                <a:cs typeface="Arial"/>
              </a:rPr>
              <a:t>• Sản phẩm Android đã bao phủ luồng đội–giải–Draft–tra cứu</a:t>
            </a:r>
          </a:p>
          <a:p xmlns:a="http://schemas.openxmlformats.org/drawingml/2006/main">
            <a:pPr>
              <a:defRPr sz="1800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3F6FC"/>
                </a:solidFill>
                <a:latin typeface="Arial"/>
                <a:ea typeface="Arial"/>
                <a:cs typeface="Arial"/>
              </a:rPr>
              <a:t>• Bộ ảnh, biên bản, báo cáo, slide và kịch bản sẵn sàng đối chiếu Jira</a:t>
            </a:r>
          </a:p>
          <a:p xmlns:a="http://schemas.openxmlformats.org/drawingml/2006/main">
            <a:pPr>
              <a:defRPr sz="1800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3F6FC"/>
                </a:solidFill>
                <a:latin typeface="Arial"/>
                <a:ea typeface="Arial"/>
                <a:cs typeface="Arial"/>
              </a:rPr>
              <a:t>• Tiếp tục kiểm thử online nhiều thiết bị và phục hồi sau mất mạng</a:t>
            </a:r>
          </a:p>
          <a:p xmlns:a="http://schemas.openxmlformats.org/drawingml/2006/main">
            <a:pPr>
              <a:defRPr sz="1800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3F6FC"/>
                </a:solidFill>
                <a:latin typeface="Arial"/>
                <a:ea typeface="Arial"/>
                <a:cs typeface="Arial"/>
              </a:rPr>
              <a:t>• Công bố repository Android độc lập, thêm README/build release</a:t>
            </a:r>
          </a:p>
          <a:p xmlns:a="http://schemas.openxmlformats.org/drawingml/2006/main">
            <a:pPr>
              <a:defRPr sz="1800" b="0">
                <a:solidFill>
                  <a:srgbClr val="F3F6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3F6FC"/>
                </a:solidFill>
                <a:latin typeface="Arial"/>
                <a:ea typeface="Arial"/>
                <a:cs typeface="Arial"/>
              </a:rPr>
              <a:t>• Tự động hóa seed, migration, coverage và audit log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9A7AF6-DB4C-4BBB-85BF-9D2A8BDD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572125"/>
            <a:ext cx="866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6C74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6C744"/>
                </a:solidFill>
                <a:latin typeface="Arial"/>
                <a:ea typeface="Arial"/>
                <a:cs typeface="Arial"/>
              </a:rPr>
              <a:t>CẢM ƠN THẦY/CÔ VÀ CÁC BẠN</a:t>
            </a:r>
          </a:p>
        </p:txBody>
      </p:sp>
    </p:spTree>
    <p:extLst>
      <p:ext uri="{BB962C8B-B14F-4D97-AF65-F5344CB8AC3E}">
        <p14:creationId xmlns:p14="http://schemas.microsoft.com/office/powerpoint/2010/main" val="18839140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2026-09-12T23:20:09.5950000Z</dcterms:created>
  <dcterms:modified xsi:type="dcterms:W3CDTF">2026-09-12T23:20:09.5950000Z</dcterms:modified>
</coreProperties>
</file>